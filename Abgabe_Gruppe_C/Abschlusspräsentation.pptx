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F5CAB3-CDFD-420D-B779-05C50FE4364F}">
  <a:tblStyle styleId="{6CF5CAB3-CDFD-420D-B779-05C50FE436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ProximaNova-bold.fntdata"/><Relationship Id="rId10" Type="http://schemas.openxmlformats.org/officeDocument/2006/relationships/slide" Target="slides/slide4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7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6.xml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6609bcf6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6609bcf6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6609bcf6f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06609bcf6f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6609bcf6f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06609bcf6f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7d555c4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7d555c4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6d0d4de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06d0d4de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6d0d4de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06d0d4d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11eeffdc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11eeffdc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7d555c4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7d555c4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1eeffdc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1eeffdc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11eeffdc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111eeffdc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11eeffdc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11eeffdc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11eeffdc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11eeffd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7d555c46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07d555c4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97125"/>
            <a:ext cx="62499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Employee Churn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882402"/>
            <a:ext cx="8123100" cy="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Wahrscheinlichkeit der Mitarbeiterfluktuation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im BASF Service Hub Berlin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510450" y="3864427"/>
            <a:ext cx="8123100" cy="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/>
              <a:t>Eric Beier, Lucas Oldenburg, Martin König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/>
              <a:t>30.01.2022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Agenda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03075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Problemstellung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Datengrundlage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Deskriptive Analyse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Modellauswahl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Modellgüte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Blick in den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Modellvergleich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Fazit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25" y="517475"/>
            <a:ext cx="1775151" cy="88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411" y="517475"/>
            <a:ext cx="1701638" cy="10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de"/>
              <a:t>Problemstellung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795900" y="1261850"/>
            <a:ext cx="51999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12-13 %</a:t>
            </a:r>
            <a:r>
              <a:rPr lang="de"/>
              <a:t> Turnover jährlich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lang="de"/>
              <a:t>Hohe Fluktuation im BASF Service Hub Berlin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de"/>
              <a:t>rechtzeitig</a:t>
            </a:r>
            <a:r>
              <a:rPr lang="de"/>
              <a:t> Maßnahmen einleiten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de"/>
              <a:t>Nicht im Scope: Sabbatical, Elternzeit, etc.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50" y="1233625"/>
            <a:ext cx="2586250" cy="25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2. Datengrundlage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Daten verbinden und erste Features entwickeln in </a:t>
            </a:r>
            <a:r>
              <a:rPr b="1" lang="de"/>
              <a:t>Alteryx</a:t>
            </a:r>
            <a:endParaRPr b="1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1697500"/>
            <a:ext cx="7324224" cy="2871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2</a:t>
            </a:r>
            <a:r>
              <a:rPr lang="de"/>
              <a:t>. Datengrundlage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400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circa 4000 Datenpunkte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41 Merkmale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Numerisch: 5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Kategorien: 32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/>
              <a:t>Daten: 4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Systemeinführung 2006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betrachten letzten 6 Jahre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personalisierte Daten herausgenommen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250" y="1569175"/>
            <a:ext cx="4396299" cy="2706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5252100" y="1134450"/>
            <a:ext cx="2790600" cy="4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aktiv: 0	 |	gegangen: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3. Deskriptive Analyse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bereinigt: 14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 sz="1800"/>
              <a:t>Kostenstelle, Position, Stelle Employee Sub-category…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verändert: 5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 sz="1800"/>
              <a:t>Nationality, Last_Development_Calendar_Year…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angelegt: 5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 sz="1800"/>
              <a:t>Nationality_Classification, Month of Service…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geclustert:  3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" sz="1800"/>
              <a:t>Nationality_Classification, Development…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-&gt; final 23 Merkmale</a:t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4. </a:t>
            </a:r>
            <a:r>
              <a:rPr lang="de"/>
              <a:t>Modellauswahl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</a:t>
            </a:r>
            <a:r>
              <a:rPr lang="de"/>
              <a:t>upervised Learning - Daten mit Label (Arbeitskraft gegangen/ noch aktiv)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Decision Tree (Martin)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Logistic Regression (Lucas)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Support Vector Machine (Eric)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900" y="1573150"/>
            <a:ext cx="2276449" cy="227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5. Modellgüte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19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Güte:</a:t>
            </a:r>
            <a:r>
              <a:rPr lang="de"/>
              <a:t> Confusion Matrix und Kostenfunktion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False Positive -  Kosten durch Aufwand für Manager und Arbeitskraft sowie mögliche “vermeidbare” Maßnahmen zum Halten der Arbeitskraft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False Negative - Kosten durch Rekrutierung und Belastung für das Team</a:t>
            </a:r>
            <a:endParaRPr b="1"/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graphicFrame>
        <p:nvGraphicFramePr>
          <p:cNvPr id="118" name="Google Shape;118;p20"/>
          <p:cNvGraphicFramePr/>
          <p:nvPr/>
        </p:nvGraphicFramePr>
        <p:xfrm>
          <a:off x="616500" y="298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{6CF5CAB3-CDFD-420D-B779-05C50FE4364F}</a:tableStyleId>
              </a:tblPr>
              <a:tblGrid>
                <a:gridCol w="2706275"/>
                <a:gridCol w="2426725"/>
                <a:gridCol w="27335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Mitarbeiter:in geht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Mitarbeiter:in bleibt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Vorhersage Mit</a:t>
                      </a:r>
                      <a:r>
                        <a:rPr lang="de"/>
                        <a:t>a</a:t>
                      </a:r>
                      <a:r>
                        <a:rPr lang="de"/>
                        <a:t>rbeiter:in geht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0€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500€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Vorhersage Mitarbeiter:in bleibt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3000€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0€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6. Blick in den Code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637600" cy="3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/>
              <a:t>                                                                                                                     </a:t>
            </a:r>
            <a:endParaRPr sz="1500"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2862" y="1272877"/>
            <a:ext cx="3213476" cy="32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7</a:t>
            </a:r>
            <a:r>
              <a:rPr lang="de"/>
              <a:t>. Modellvergleich</a:t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4264" l="6502" r="9695" t="3228"/>
          <a:stretch/>
        </p:blipFill>
        <p:spPr>
          <a:xfrm>
            <a:off x="1446800" y="1140150"/>
            <a:ext cx="5385383" cy="352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7. Modellvergleich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8637600" cy="35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500"/>
              <a:t>                                                                                                                     </a:t>
            </a:r>
            <a:endParaRPr sz="1500"/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graphicFrame>
        <p:nvGraphicFramePr>
          <p:cNvPr id="141" name="Google Shape;141;p23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{6CF5CAB3-CDFD-420D-B779-05C50FE4364F}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False-Negative-Rate in %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Acurracy in %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Distributed Random Forest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Logistic Regression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Support Vector Machine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62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" name="Google Shape;142;p23"/>
          <p:cNvGraphicFramePr/>
          <p:nvPr/>
        </p:nvGraphicFramePr>
        <p:xfrm>
          <a:off x="952500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{6CF5CAB3-CDFD-420D-B779-05C50FE4364F}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Cost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Distributed Random Forest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240.000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Logistic Regression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233.500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8</a:t>
            </a:r>
            <a:r>
              <a:rPr lang="de"/>
              <a:t>. Fazit und Ausblick</a:t>
            </a:r>
            <a:endParaRPr/>
          </a:p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1996" l="0" r="0" t="19082"/>
          <a:stretch/>
        </p:blipFill>
        <p:spPr>
          <a:xfrm>
            <a:off x="509325" y="1172025"/>
            <a:ext cx="7963125" cy="32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/>
          <p:nvPr/>
        </p:nvSpPr>
        <p:spPr>
          <a:xfrm>
            <a:off x="3127900" y="1791650"/>
            <a:ext cx="2261952" cy="1112292"/>
          </a:xfrm>
          <a:prstGeom prst="cloud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>
            <p:ph type="title"/>
          </p:nvPr>
        </p:nvSpPr>
        <p:spPr>
          <a:xfrm>
            <a:off x="3616800" y="1999050"/>
            <a:ext cx="151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Fragen?</a:t>
            </a:r>
            <a:endParaRPr/>
          </a:p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57" name="Google Shape;157;p25"/>
          <p:cNvSpPr txBox="1"/>
          <p:nvPr>
            <p:ph type="title"/>
          </p:nvPr>
        </p:nvSpPr>
        <p:spPr>
          <a:xfrm>
            <a:off x="6496700" y="1857875"/>
            <a:ext cx="179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20"/>
              <a:t>Threshold</a:t>
            </a:r>
            <a:endParaRPr sz="2020"/>
          </a:p>
        </p:txBody>
      </p:sp>
      <p:sp>
        <p:nvSpPr>
          <p:cNvPr id="158" name="Google Shape;158;p25"/>
          <p:cNvSpPr txBox="1"/>
          <p:nvPr>
            <p:ph type="title"/>
          </p:nvPr>
        </p:nvSpPr>
        <p:spPr>
          <a:xfrm>
            <a:off x="5946500" y="3206425"/>
            <a:ext cx="24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20"/>
              <a:t>Balanced Accuracy</a:t>
            </a:r>
            <a:endParaRPr sz="2020"/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875100" y="3531400"/>
            <a:ext cx="24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20"/>
              <a:t>Hyperparameter</a:t>
            </a:r>
            <a:endParaRPr sz="2020"/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105050" y="1752850"/>
            <a:ext cx="24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9009"/>
              <a:buNone/>
            </a:pPr>
            <a:r>
              <a:rPr lang="de" sz="2020"/>
              <a:t>Feature Engineering</a:t>
            </a:r>
            <a:endParaRPr sz="2020"/>
          </a:p>
        </p:txBody>
      </p:sp>
      <p:sp>
        <p:nvSpPr>
          <p:cNvPr id="161" name="Google Shape;161;p25"/>
          <p:cNvSpPr txBox="1"/>
          <p:nvPr>
            <p:ph type="title"/>
          </p:nvPr>
        </p:nvSpPr>
        <p:spPr>
          <a:xfrm>
            <a:off x="2859500" y="4135375"/>
            <a:ext cx="308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20"/>
              <a:t>Exploratory Data Analysis</a:t>
            </a:r>
            <a:endParaRPr sz="2020"/>
          </a:p>
        </p:txBody>
      </p:sp>
      <p:cxnSp>
        <p:nvCxnSpPr>
          <p:cNvPr id="162" name="Google Shape;162;p25"/>
          <p:cNvCxnSpPr/>
          <p:nvPr/>
        </p:nvCxnSpPr>
        <p:spPr>
          <a:xfrm>
            <a:off x="2344075" y="2013075"/>
            <a:ext cx="1074900" cy="30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3" name="Google Shape;163;p25"/>
          <p:cNvSpPr txBox="1"/>
          <p:nvPr>
            <p:ph type="title"/>
          </p:nvPr>
        </p:nvSpPr>
        <p:spPr>
          <a:xfrm>
            <a:off x="5229600" y="897450"/>
            <a:ext cx="130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20"/>
              <a:t>AUC</a:t>
            </a:r>
            <a:endParaRPr sz="2020"/>
          </a:p>
        </p:txBody>
      </p:sp>
      <p:cxnSp>
        <p:nvCxnSpPr>
          <p:cNvPr id="164" name="Google Shape;164;p25"/>
          <p:cNvCxnSpPr/>
          <p:nvPr/>
        </p:nvCxnSpPr>
        <p:spPr>
          <a:xfrm flipH="1" rot="10800000">
            <a:off x="2829300" y="2608250"/>
            <a:ext cx="958800" cy="98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5" name="Google Shape;165;p25"/>
          <p:cNvCxnSpPr/>
          <p:nvPr/>
        </p:nvCxnSpPr>
        <p:spPr>
          <a:xfrm flipH="1" rot="10800000">
            <a:off x="4046125" y="2702475"/>
            <a:ext cx="231600" cy="1395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6" name="Google Shape;166;p25"/>
          <p:cNvCxnSpPr>
            <a:stCxn id="158" idx="1"/>
          </p:cNvCxnSpPr>
          <p:nvPr/>
        </p:nvCxnSpPr>
        <p:spPr>
          <a:xfrm rot="10800000">
            <a:off x="4829900" y="2672575"/>
            <a:ext cx="1116600" cy="820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7" name="Google Shape;167;p25"/>
          <p:cNvSpPr txBox="1"/>
          <p:nvPr>
            <p:ph type="title"/>
          </p:nvPr>
        </p:nvSpPr>
        <p:spPr>
          <a:xfrm>
            <a:off x="1892300" y="897450"/>
            <a:ext cx="205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020"/>
              <a:t>Kostenfunktion</a:t>
            </a:r>
            <a:endParaRPr sz="2020"/>
          </a:p>
        </p:txBody>
      </p:sp>
      <p:cxnSp>
        <p:nvCxnSpPr>
          <p:cNvPr id="168" name="Google Shape;168;p25"/>
          <p:cNvCxnSpPr/>
          <p:nvPr/>
        </p:nvCxnSpPr>
        <p:spPr>
          <a:xfrm flipH="1">
            <a:off x="5130300" y="1387075"/>
            <a:ext cx="338400" cy="42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9" name="Google Shape;169;p25"/>
          <p:cNvCxnSpPr/>
          <p:nvPr/>
        </p:nvCxnSpPr>
        <p:spPr>
          <a:xfrm>
            <a:off x="3277200" y="1478100"/>
            <a:ext cx="806400" cy="604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" name="Google Shape;170;p25"/>
          <p:cNvCxnSpPr>
            <a:stCxn id="157" idx="1"/>
          </p:cNvCxnSpPr>
          <p:nvPr/>
        </p:nvCxnSpPr>
        <p:spPr>
          <a:xfrm flipH="1">
            <a:off x="5390000" y="2144225"/>
            <a:ext cx="1106700" cy="1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Präsentationsverteilung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Anmoderation - Eric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Problemstellung - Martin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Lösungsansatz - Martin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Datengrundlage - 1. Martin  ab  Datenbearbeitung Eric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Deskriptive Analyse - 1. Eric  dann Lucas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Modellauswahl und -güte - Lucas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Ausblick - Lucas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Fazit: Datenstruktur (Format) - 80 % data wrangling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Erkenntnis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Nutzen -&gt; optimieren () -&gt; Hyperparameter</a:t>
            </a:r>
            <a:endParaRPr/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