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Proxima Nova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CF5CAB3-CDFD-420D-B779-05C50FE4364F}">
  <a:tblStyle styleId="{6CF5CAB3-CDFD-420D-B779-05C50FE436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80" y="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06609bcf6f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06609bcf6f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06609bcf6f_0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106609bcf6f_0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106609bcf6f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106609bcf6f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107d555c4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107d555c4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106d0d4de6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106d0d4de6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06d0d4de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106d0d4de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111eeffdcd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111eeffdcd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07d555c46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07d555c46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111eeffdcd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111eeffdcd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1111eeffdc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1111eeffdc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111eeffdcd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1111eeffdcd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1111eeffdcd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1111eeffdcd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107d555c46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107d555c46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0450" y="197125"/>
            <a:ext cx="6249900" cy="7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Employee Churn</a:t>
            </a:r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0450" y="882402"/>
            <a:ext cx="8123100" cy="8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Wahrscheinlichkeit der Mitarbeiterfluktuation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im BASF Service Hub Berlin</a:t>
            </a:r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1"/>
          </p:nvPr>
        </p:nvSpPr>
        <p:spPr>
          <a:xfrm>
            <a:off x="510450" y="3864427"/>
            <a:ext cx="8123100" cy="8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2200"/>
              <a:t>Eric Beier, Lucas Oldenburg, Martin König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2200"/>
              <a:t>30.01.2022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Agenda</a:t>
            </a:r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03075" y="11322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Problemstellung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Datengrundlage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Deskriptive Analyse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Modellauswahl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Modellgüte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Blick in den Code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Modellvergleich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Fazit</a:t>
            </a:r>
            <a:endParaRPr/>
          </a:p>
        </p:txBody>
      </p:sp>
      <p:pic>
        <p:nvPicPr>
          <p:cNvPr id="68" name="Google Shape;6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8525" y="517475"/>
            <a:ext cx="1775151" cy="887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05411" y="517475"/>
            <a:ext cx="1701638" cy="102452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457200" lvl="0" indent="-388620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de"/>
              <a:t>Problemstellung</a:t>
            </a:r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3795900" y="1261850"/>
            <a:ext cx="5199900" cy="319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/>
              <a:t>12-13 %</a:t>
            </a:r>
            <a:r>
              <a:rPr lang="de"/>
              <a:t> Turnover jährlich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➔"/>
            </a:pPr>
            <a:r>
              <a:rPr lang="de"/>
              <a:t>Hohe Fluktuation im BASF Service Hub Berlin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➔"/>
            </a:pPr>
            <a:r>
              <a:rPr lang="de" b="1"/>
              <a:t>rechtzeitig</a:t>
            </a:r>
            <a:r>
              <a:rPr lang="de"/>
              <a:t> Maßnahmen einleiten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➔"/>
            </a:pPr>
            <a:r>
              <a:rPr lang="de"/>
              <a:t>Nicht im Scope: Sabbatical, Elternzeit, etc.</a:t>
            </a:r>
            <a:endParaRPr/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1950" y="1233625"/>
            <a:ext cx="2586250" cy="25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2. Datengrundlage</a:t>
            </a:r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de"/>
              <a:t>Daten verbinden und erste Features entwickeln in </a:t>
            </a:r>
            <a:r>
              <a:rPr lang="de" b="1"/>
              <a:t>Alteryx</a:t>
            </a:r>
            <a:endParaRPr b="1"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775" y="1697500"/>
            <a:ext cx="7324224" cy="287137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2. Datengrundlage</a:t>
            </a:r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03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circa 4000 Datenpunkte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41 Merkmale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/>
              <a:t>Numerisch: 5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/>
              <a:t>Kategorien: 32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/>
              <a:t>Daten: 4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Systemeinführung 2006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betrachten letzten 6 Jahre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personalisierte Daten herausgenommen</a:t>
            </a:r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5</a:t>
            </a:fld>
            <a:endParaRPr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8250" y="1569175"/>
            <a:ext cx="4396299" cy="27068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>
            <a:spLocks noGrp="1"/>
          </p:cNvSpPr>
          <p:nvPr>
            <p:ph type="body" idx="1"/>
          </p:nvPr>
        </p:nvSpPr>
        <p:spPr>
          <a:xfrm>
            <a:off x="5252100" y="1134450"/>
            <a:ext cx="2790600" cy="4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de"/>
              <a:t>aktiv: 0	 |	gegangen: 1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3. Deskriptive Analyse</a:t>
            </a:r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bereinigt: 14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 sz="1800"/>
              <a:t>Kostenstelle, Position, Stelle Employee Sub-category…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verändert: 5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 sz="1800"/>
              <a:t>Nationality, Last_Development_Calendar_Year…</a:t>
            </a:r>
            <a:endParaRPr sz="180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angelegt: 5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 sz="1800"/>
              <a:t>Nationality_Classification, Month of Service…</a:t>
            </a:r>
            <a:endParaRPr sz="180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geclustert:  3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de" sz="1800"/>
              <a:t>Nationality_Classification, Development…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de"/>
              <a:t>-&gt; final 23 Merkmale</a:t>
            </a: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4. Modellauswahl</a:t>
            </a:r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0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Supervised Learning - Daten mit Label (Arbeitskraft gegangen/ noch aktiv)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Decision Tree (Martin)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Logistic Regression (Lucas)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Support Vector Machine (Eric)</a:t>
            </a:r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7</a:t>
            </a:fld>
            <a:endParaRPr/>
          </a:p>
        </p:txBody>
      </p:sp>
      <p:pic>
        <p:nvPicPr>
          <p:cNvPr id="110" name="Google Shape;11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5900" y="1573150"/>
            <a:ext cx="2276449" cy="2276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5. Modellgüte</a:t>
            </a: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9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b="1"/>
              <a:t>Güte:</a:t>
            </a:r>
            <a:r>
              <a:rPr lang="de"/>
              <a:t> Confusion Matrix und Kostenfunktion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False Positive -  Kosten durch Aufwand für Manager und Arbeitskraft sowie mögliche “vermeidbare” Maßnahmen zum Halten der Arbeitskraft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de"/>
              <a:t>False Negative - Kosten durch Rekrutierung und Belastung für das Team</a:t>
            </a:r>
            <a:endParaRPr b="1"/>
          </a:p>
        </p:txBody>
      </p:sp>
      <p:sp>
        <p:nvSpPr>
          <p:cNvPr id="117" name="Google Shape;11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8</a:t>
            </a:fld>
            <a:endParaRPr/>
          </a:p>
        </p:txBody>
      </p:sp>
      <p:graphicFrame>
        <p:nvGraphicFramePr>
          <p:cNvPr id="118" name="Google Shape;118;p20"/>
          <p:cNvGraphicFramePr/>
          <p:nvPr/>
        </p:nvGraphicFramePr>
        <p:xfrm>
          <a:off x="616500" y="2982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{6CF5CAB3-CDFD-420D-B779-05C50FE4364F}</a:tableStyleId>
              </a:tblPr>
              <a:tblGrid>
                <a:gridCol w="2706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Mitarbeiter:in geht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Mitarbeiter:in bleibt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Vorhersage Mitarbeiter:in geht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0€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500€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Vorhersage Mitarbeiter:in bleibt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3000€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0€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6. Blick in den Code</a:t>
            </a:r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637600" cy="35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de" sz="1500"/>
              <a:t>                                                                                                                     </a:t>
            </a:r>
            <a:endParaRPr sz="1500"/>
          </a:p>
        </p:txBody>
      </p:sp>
      <p:sp>
        <p:nvSpPr>
          <p:cNvPr id="125" name="Google Shape;12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9</a:t>
            </a:fld>
            <a:endParaRPr/>
          </a:p>
        </p:txBody>
      </p:sp>
      <p:pic>
        <p:nvPicPr>
          <p:cNvPr id="126" name="Google Shape;12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12862" y="1272877"/>
            <a:ext cx="3213476" cy="321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7. Modellvergleich</a:t>
            </a:r>
            <a:endParaRPr/>
          </a:p>
        </p:txBody>
      </p:sp>
      <p:sp>
        <p:nvSpPr>
          <p:cNvPr id="132" name="Google Shape;132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10</a:t>
            </a:fld>
            <a:endParaRPr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6F8188A-9781-4F65-A427-9991FF72A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676" y="946166"/>
            <a:ext cx="5691990" cy="39547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7. Modellvergleich</a:t>
            </a:r>
            <a:endParaRPr/>
          </a:p>
        </p:txBody>
      </p:sp>
      <p:sp>
        <p:nvSpPr>
          <p:cNvPr id="139" name="Google Shape;13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637600" cy="35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de" sz="1500"/>
              <a:t>                                                                                                                     </a:t>
            </a:r>
            <a:endParaRPr sz="1500"/>
          </a:p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11</a:t>
            </a:fld>
            <a:endParaRPr/>
          </a:p>
        </p:txBody>
      </p:sp>
      <p:graphicFrame>
        <p:nvGraphicFramePr>
          <p:cNvPr id="141" name="Google Shape;141;p23"/>
          <p:cNvGraphicFramePr/>
          <p:nvPr/>
        </p:nvGraphicFramePr>
        <p:xfrm>
          <a:off x="952500" y="1428750"/>
          <a:ext cx="7239000" cy="1584840"/>
        </p:xfrm>
        <a:graphic>
          <a:graphicData uri="http://schemas.openxmlformats.org/drawingml/2006/table">
            <a:tbl>
              <a:tblPr>
                <a:noFill/>
                <a:tableStyleId>{6CF5CAB3-CDFD-420D-B779-05C50FE4364F}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False-Negative-Rate in %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Acurracy in %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Distributed Random Forest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10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65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Logistic Regression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7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59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Support Vector Machine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29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62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2" name="Google Shape;142;p23"/>
          <p:cNvGraphicFramePr/>
          <p:nvPr/>
        </p:nvGraphicFramePr>
        <p:xfrm>
          <a:off x="952500" y="3219450"/>
          <a:ext cx="7239000" cy="1188630"/>
        </p:xfrm>
        <a:graphic>
          <a:graphicData uri="http://schemas.openxmlformats.org/drawingml/2006/table">
            <a:tbl>
              <a:tblPr>
                <a:noFill/>
                <a:tableStyleId>{6CF5CAB3-CDFD-420D-B779-05C50FE4364F}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Cost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Distributed Random Forest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240.000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Logistic Regression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233.500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8. Fazit und Ausblick</a:t>
            </a:r>
            <a:endParaRPr/>
          </a:p>
        </p:txBody>
      </p:sp>
      <p:sp>
        <p:nvSpPr>
          <p:cNvPr id="148" name="Google Shape;148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12</a:t>
            </a:fld>
            <a:endParaRPr/>
          </a:p>
        </p:txBody>
      </p:sp>
      <p:pic>
        <p:nvPicPr>
          <p:cNvPr id="149" name="Google Shape;149;p24"/>
          <p:cNvPicPr preferRelativeResize="0"/>
          <p:nvPr/>
        </p:nvPicPr>
        <p:blipFill rotWithShape="1">
          <a:blip r:embed="rId3">
            <a:alphaModFix/>
          </a:blip>
          <a:srcRect t="19082" b="1996"/>
          <a:stretch/>
        </p:blipFill>
        <p:spPr>
          <a:xfrm>
            <a:off x="509325" y="1172025"/>
            <a:ext cx="7963125" cy="329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/>
          <p:nvPr/>
        </p:nvSpPr>
        <p:spPr>
          <a:xfrm>
            <a:off x="3127900" y="1791650"/>
            <a:ext cx="2261952" cy="1112292"/>
          </a:xfrm>
          <a:prstGeom prst="cloud">
            <a:avLst/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5"/>
          <p:cNvSpPr txBox="1">
            <a:spLocks noGrp="1"/>
          </p:cNvSpPr>
          <p:nvPr>
            <p:ph type="title"/>
          </p:nvPr>
        </p:nvSpPr>
        <p:spPr>
          <a:xfrm>
            <a:off x="3616800" y="1999050"/>
            <a:ext cx="1513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Fragen?</a:t>
            </a:r>
            <a:endParaRPr/>
          </a:p>
        </p:txBody>
      </p:sp>
      <p:sp>
        <p:nvSpPr>
          <p:cNvPr id="156" name="Google Shape;15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13</a:t>
            </a:fld>
            <a:endParaRPr/>
          </a:p>
        </p:txBody>
      </p:sp>
      <p:sp>
        <p:nvSpPr>
          <p:cNvPr id="157" name="Google Shape;157;p25"/>
          <p:cNvSpPr txBox="1">
            <a:spLocks noGrp="1"/>
          </p:cNvSpPr>
          <p:nvPr>
            <p:ph type="title"/>
          </p:nvPr>
        </p:nvSpPr>
        <p:spPr>
          <a:xfrm>
            <a:off x="6496700" y="1857875"/>
            <a:ext cx="1799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de" sz="2020"/>
              <a:t>Threshold</a:t>
            </a:r>
            <a:endParaRPr sz="2020"/>
          </a:p>
        </p:txBody>
      </p:sp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5946500" y="3206425"/>
            <a:ext cx="2427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de" sz="2020"/>
              <a:t>Balanced Accuracy</a:t>
            </a:r>
            <a:endParaRPr sz="2020"/>
          </a:p>
        </p:txBody>
      </p:sp>
      <p:sp>
        <p:nvSpPr>
          <p:cNvPr id="159" name="Google Shape;159;p25"/>
          <p:cNvSpPr txBox="1">
            <a:spLocks noGrp="1"/>
          </p:cNvSpPr>
          <p:nvPr>
            <p:ph type="title"/>
          </p:nvPr>
        </p:nvSpPr>
        <p:spPr>
          <a:xfrm>
            <a:off x="875100" y="3531400"/>
            <a:ext cx="2427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de" sz="2020"/>
              <a:t>Hyperparameter</a:t>
            </a:r>
            <a:endParaRPr sz="2020"/>
          </a:p>
        </p:txBody>
      </p:sp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105050" y="1752850"/>
            <a:ext cx="2427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49009"/>
              <a:buNone/>
            </a:pPr>
            <a:r>
              <a:rPr lang="de" sz="2020"/>
              <a:t>Feature Engineering</a:t>
            </a:r>
            <a:endParaRPr sz="2020"/>
          </a:p>
        </p:txBody>
      </p:sp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2859500" y="4135375"/>
            <a:ext cx="3087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de" sz="2020"/>
              <a:t>Exploratory Data Analysis</a:t>
            </a:r>
            <a:endParaRPr sz="2020"/>
          </a:p>
        </p:txBody>
      </p:sp>
      <p:cxnSp>
        <p:nvCxnSpPr>
          <p:cNvPr id="162" name="Google Shape;162;p25"/>
          <p:cNvCxnSpPr/>
          <p:nvPr/>
        </p:nvCxnSpPr>
        <p:spPr>
          <a:xfrm>
            <a:off x="2344075" y="2013075"/>
            <a:ext cx="1074900" cy="3012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163" name="Google Shape;163;p25"/>
          <p:cNvSpPr txBox="1">
            <a:spLocks noGrp="1"/>
          </p:cNvSpPr>
          <p:nvPr>
            <p:ph type="title"/>
          </p:nvPr>
        </p:nvSpPr>
        <p:spPr>
          <a:xfrm>
            <a:off x="5229600" y="897450"/>
            <a:ext cx="1308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de" sz="2020"/>
              <a:t>AUC</a:t>
            </a:r>
            <a:endParaRPr sz="2020"/>
          </a:p>
        </p:txBody>
      </p:sp>
      <p:cxnSp>
        <p:nvCxnSpPr>
          <p:cNvPr id="164" name="Google Shape;164;p25"/>
          <p:cNvCxnSpPr/>
          <p:nvPr/>
        </p:nvCxnSpPr>
        <p:spPr>
          <a:xfrm rot="10800000" flipH="1">
            <a:off x="2829300" y="2608250"/>
            <a:ext cx="958800" cy="9825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 rot="10800000" flipH="1">
            <a:off x="4046125" y="2702475"/>
            <a:ext cx="231600" cy="1395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  <p:cxnSp>
        <p:nvCxnSpPr>
          <p:cNvPr id="166" name="Google Shape;166;p25"/>
          <p:cNvCxnSpPr>
            <a:stCxn id="158" idx="1"/>
          </p:cNvCxnSpPr>
          <p:nvPr/>
        </p:nvCxnSpPr>
        <p:spPr>
          <a:xfrm rot="10800000">
            <a:off x="4829900" y="2672575"/>
            <a:ext cx="1116600" cy="8202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167" name="Google Shape;167;p25"/>
          <p:cNvSpPr txBox="1">
            <a:spLocks noGrp="1"/>
          </p:cNvSpPr>
          <p:nvPr>
            <p:ph type="title"/>
          </p:nvPr>
        </p:nvSpPr>
        <p:spPr>
          <a:xfrm>
            <a:off x="1892300" y="897450"/>
            <a:ext cx="205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de" sz="2020"/>
              <a:t>Kostenfunktion</a:t>
            </a:r>
            <a:endParaRPr sz="2020"/>
          </a:p>
        </p:txBody>
      </p:sp>
      <p:cxnSp>
        <p:nvCxnSpPr>
          <p:cNvPr id="168" name="Google Shape;168;p25"/>
          <p:cNvCxnSpPr/>
          <p:nvPr/>
        </p:nvCxnSpPr>
        <p:spPr>
          <a:xfrm flipH="1">
            <a:off x="5130300" y="1387075"/>
            <a:ext cx="338400" cy="4215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  <p:cxnSp>
        <p:nvCxnSpPr>
          <p:cNvPr id="169" name="Google Shape;169;p25"/>
          <p:cNvCxnSpPr/>
          <p:nvPr/>
        </p:nvCxnSpPr>
        <p:spPr>
          <a:xfrm>
            <a:off x="3277200" y="1478100"/>
            <a:ext cx="806400" cy="6045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  <p:cxnSp>
        <p:nvCxnSpPr>
          <p:cNvPr id="170" name="Google Shape;170;p25"/>
          <p:cNvCxnSpPr>
            <a:stCxn id="157" idx="1"/>
          </p:cNvCxnSpPr>
          <p:nvPr/>
        </p:nvCxnSpPr>
        <p:spPr>
          <a:xfrm flipH="1">
            <a:off x="5390000" y="2144225"/>
            <a:ext cx="1106700" cy="1380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Präsentationsverteilung</a:t>
            </a:r>
            <a:endParaRPr/>
          </a:p>
        </p:txBody>
      </p:sp>
      <p:sp>
        <p:nvSpPr>
          <p:cNvPr id="176" name="Google Shape;176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Anmoderation - Eric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Problemstellung - Martin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Lösungsansatz - Martin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Datengrundlage - 1. Martin  ab  Datenbearbeitung Eric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Deskriptive Analyse - 1. Eric  dann Lucas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Modellauswahl und -güte - Lucas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de"/>
              <a:t>Ausblick - Lucas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"/>
              <a:t>Fazit: Datenstruktur (Format) - 80 % data wrangling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"/>
              <a:t>Erkenntnis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de"/>
              <a:t>Nutzen -&gt; optimieren () -&gt; Hyperparameter</a:t>
            </a:r>
            <a:endParaRPr/>
          </a:p>
        </p:txBody>
      </p:sp>
      <p:sp>
        <p:nvSpPr>
          <p:cNvPr id="177" name="Google Shape;177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14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</Words>
  <Application>Microsoft Office PowerPoint</Application>
  <PresentationFormat>Bildschirmpräsentation (16:9)</PresentationFormat>
  <Paragraphs>119</Paragraphs>
  <Slides>14</Slides>
  <Notes>14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7" baseType="lpstr">
      <vt:lpstr>Arial</vt:lpstr>
      <vt:lpstr>Proxima Nova</vt:lpstr>
      <vt:lpstr>Spearmint</vt:lpstr>
      <vt:lpstr>Employee Churn</vt:lpstr>
      <vt:lpstr>Agenda</vt:lpstr>
      <vt:lpstr>Problemstellung</vt:lpstr>
      <vt:lpstr>2. Datengrundlage</vt:lpstr>
      <vt:lpstr>2. Datengrundlage</vt:lpstr>
      <vt:lpstr>3. Deskriptive Analyse</vt:lpstr>
      <vt:lpstr>4. Modellauswahl</vt:lpstr>
      <vt:lpstr>5. Modellgüte</vt:lpstr>
      <vt:lpstr>6. Blick in den Code</vt:lpstr>
      <vt:lpstr>7. Modellvergleich</vt:lpstr>
      <vt:lpstr>7. Modellvergleich</vt:lpstr>
      <vt:lpstr>8. Fazit und Ausblick</vt:lpstr>
      <vt:lpstr>Fragen?</vt:lpstr>
      <vt:lpstr>Präsentationsverteilung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Churn</dc:title>
  <cp:lastModifiedBy>martinkffo@web.de</cp:lastModifiedBy>
  <cp:revision>1</cp:revision>
  <dcterms:modified xsi:type="dcterms:W3CDTF">2022-03-01T09:58:37Z</dcterms:modified>
</cp:coreProperties>
</file>